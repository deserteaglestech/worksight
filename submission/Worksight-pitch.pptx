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9" r:id="rId9"/>
    <p:sldId id="261" r:id="rId11"/>
    <p:sldId id="260" r:id="rId10"/>
    <p:sldId id="271" r:id="rId21"/>
    <p:sldId id="270" r:id="rId20"/>
    <p:sldId id="265" r:id="rId15"/>
    <p:sldId id="267" r:id="rId17"/>
    <p:sldId id="268" r:id="rId18"/>
    <p:sldId id="258" r:id="rId8"/>
    <p:sldId id="272" r:id="rId22"/>
    <p:sldId id="273" r:id="rId23"/>
  </p:sldIdLst>
  <p:sldSz cx="18288000" cy="10287000"/>
  <p:notesSz cx="6858000" cy="9144000"/>
  <p:embeddedFontLst>
    <p:embeddedFont>
      <p:font typeface="Proxima Nova Bold" charset="1" panose="02000506030000020004"/>
      <p:regular r:id="rId24"/>
    </p:embeddedFont>
    <p:embeddedFont>
      <p:font typeface="Proxima Nova" charset="1" panose="02000506030000020004"/>
      <p:regular r:id="rId25"/>
    </p:embeddedFont>
    <p:embeddedFont>
      <p:font typeface="Proxima Nova Italics" charset="1" panose="0200050603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5" Type="http://schemas.openxmlformats.org/officeDocument/2006/relationships/slide" Target="slides/slide10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Defects caught above threshold, %</c:v>
                </c:pt>
              </c:strCache>
            </c:strRef>
          </c:tx>
          <c:spPr>
            <a:solidFill>
              <a:srgbClr val="1C0140"/>
            </a:solidFill>
          </c:spPr>
          <c:dLbls>
            <c:txPr>
              <a:bodyPr/>
              <a:lstStyle/>
              <a:p>
                <a:pPr>
                  <a:defRPr sz="1300">
                    <a:solidFill>
                      <a:srgbClr val="1C014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pcb1</c:v>
                </c:pt>
                <c:pt idx="1">
                  <c:v>pcb2</c:v>
                </c:pt>
                <c:pt idx="2">
                  <c:v>pcb3</c:v>
                </c:pt>
                <c:pt idx="3">
                  <c:v>pcb4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</c:v>
                </c:pt>
                <c:pt idx="1">
                  <c:v>59</c:v>
                </c:pt>
                <c:pt idx="2">
                  <c:v>46</c:v>
                </c:pt>
                <c:pt idx="3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 sent to engineer (with review band), %</c:v>
                </c:pt>
              </c:strCache>
            </c:strRef>
          </c:tx>
          <c:spPr>
            <a:solidFill>
              <a:srgbClr val="5284FF"/>
            </a:solidFill>
          </c:spPr>
          <c:dLbls>
            <c:txPr>
              <a:bodyPr/>
              <a:lstStyle/>
              <a:p>
                <a:pPr>
                  <a:defRPr sz="1300">
                    <a:solidFill>
                      <a:srgbClr val="1C014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pcb1</c:v>
                </c:pt>
                <c:pt idx="1">
                  <c:v>pcb2</c:v>
                </c:pt>
                <c:pt idx="2">
                  <c:v>pcb3</c:v>
                </c:pt>
                <c:pt idx="3">
                  <c:v>pcb4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</c:v>
                </c:pt>
                <c:pt idx="1">
                  <c:v>77</c:v>
                </c:pt>
                <c:pt idx="2">
                  <c:v>58</c:v>
                </c:pt>
                <c:pt idx="3">
                  <c:v>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Good boards sent to engineer, %</c:v>
                </c:pt>
              </c:strCache>
            </c:strRef>
          </c:tx>
          <c:spPr>
            <a:solidFill>
              <a:srgbClr val="D95508"/>
            </a:solidFill>
          </c:spPr>
          <c:dLbls>
            <c:txPr>
              <a:bodyPr/>
              <a:lstStyle/>
              <a:p>
                <a:pPr>
                  <a:defRPr sz="1300">
                    <a:solidFill>
                      <a:srgbClr val="1C014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pcb1</c:v>
                </c:pt>
                <c:pt idx="1">
                  <c:v>pcb2</c:v>
                </c:pt>
                <c:pt idx="2">
                  <c:v>pcb3</c:v>
                </c:pt>
                <c:pt idx="3">
                  <c:v>pcb4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</c:v>
                </c:pt>
                <c:pt idx="1">
                  <c:v>13</c:v>
                </c:pt>
                <c:pt idx="2">
                  <c:v>10</c:v>
                </c:pt>
                <c:pt idx="3">
                  <c:v>4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C014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600">
              <a:solidFill>
                <a:srgbClr val="1C0140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17.png"/><Relationship Id="rId11" Type="http://schemas.openxmlformats.org/officeDocument/2006/relationships/image" Target="../media/image18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3" Type="http://schemas.openxmlformats.org/officeDocument/2006/relationships/image" Target="../media/image20.jpeg"/><Relationship Id="rId4" Type="http://schemas.openxmlformats.org/officeDocument/2006/relationships/image" Target="../media/image21.jpeg"/><Relationship Id="rId5" Type="http://schemas.openxmlformats.org/officeDocument/2006/relationships/image" Target="../media/image22.png"/><Relationship Id="rId6" Type="http://schemas.openxmlformats.org/officeDocument/2006/relationships/image" Target="../media/image23.svg"/><Relationship Id="rId7" Type="http://schemas.openxmlformats.org/officeDocument/2006/relationships/image" Target="../media/image24.png"/><Relationship Id="rId8" Type="http://schemas.openxmlformats.org/officeDocument/2006/relationships/image" Target="../media/image25.svg"/><Relationship Id="rId9" Type="http://schemas.openxmlformats.org/officeDocument/2006/relationships/image" Target="../media/image26.png"/><Relationship Id="rId10" Type="http://schemas.openxmlformats.org/officeDocument/2006/relationships/image" Target="../media/image27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Relationship Id="rId13" Type="http://schemas.openxmlformats.org/officeDocument/2006/relationships/image" Target="../media/image5.png"/><Relationship Id="rId14" Type="http://schemas.openxmlformats.org/officeDocument/2006/relationships/image" Target="../media/image6.svg"/><Relationship Id="rId15" Type="http://schemas.openxmlformats.org/officeDocument/2006/relationships/image" Target="../media/image41.png"/><Relationship Id="rId16" Type="http://schemas.openxmlformats.org/officeDocument/2006/relationships/image" Target="../media/image4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Relationship Id="rId4" Type="http://schemas.openxmlformats.org/officeDocument/2006/relationships/image" Target="../media/image26.png"/><Relationship Id="rId5" Type="http://schemas.openxmlformats.org/officeDocument/2006/relationships/image" Target="../media/image27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30.png"/><Relationship Id="rId9" Type="http://schemas.openxmlformats.org/officeDocument/2006/relationships/image" Target="../media/image31.svg"/><Relationship Id="rId10" Type="http://schemas.openxmlformats.org/officeDocument/2006/relationships/image" Target="../media/image32.png"/><Relationship Id="rId11" Type="http://schemas.openxmlformats.org/officeDocument/2006/relationships/image" Target="../media/image33.svg"/><Relationship Id="rId12" Type="http://schemas.openxmlformats.org/officeDocument/2006/relationships/image" Target="../media/image9.png"/><Relationship Id="rId13" Type="http://schemas.openxmlformats.org/officeDocument/2006/relationships/image" Target="../media/image10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30.png"/><Relationship Id="rId10" Type="http://schemas.openxmlformats.org/officeDocument/2006/relationships/image" Target="../media/image31.svg"/><Relationship Id="rId11" Type="http://schemas.openxmlformats.org/officeDocument/2006/relationships/image" Target="../media/image37.png"/><Relationship Id="rId12" Type="http://schemas.openxmlformats.org/officeDocument/2006/relationships/image" Target="../media/image38.svg"/><Relationship Id="rId1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5.png"/><Relationship Id="rId11" Type="http://schemas.openxmlformats.org/officeDocument/2006/relationships/image" Target="../media/image6.svg"/><Relationship Id="rId12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Relationship Id="rId4" Type="http://schemas.openxmlformats.org/officeDocument/2006/relationships/image" Target="../media/image26.png"/><Relationship Id="rId5" Type="http://schemas.openxmlformats.org/officeDocument/2006/relationships/image" Target="../media/image27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30.png"/><Relationship Id="rId9" Type="http://schemas.openxmlformats.org/officeDocument/2006/relationships/image" Target="../media/image31.svg"/><Relationship Id="rId10" Type="http://schemas.openxmlformats.org/officeDocument/2006/relationships/image" Target="../media/image32.png"/><Relationship Id="rId11" Type="http://schemas.openxmlformats.org/officeDocument/2006/relationships/image" Target="../media/image33.svg"/><Relationship Id="rId12" Type="http://schemas.openxmlformats.org/officeDocument/2006/relationships/image" Target="../media/image9.png"/><Relationship Id="rId13" Type="http://schemas.openxmlformats.org/officeDocument/2006/relationships/image" Target="../media/image10.svg"/><Relationship Id="rId14" Type="http://schemas.openxmlformats.org/officeDocument/2006/relationships/image" Target="../media/image37.png"/><Relationship Id="rId15" Type="http://schemas.openxmlformats.org/officeDocument/2006/relationships/image" Target="../media/image38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5.png"/><Relationship Id="rId11" Type="http://schemas.openxmlformats.org/officeDocument/2006/relationships/image" Target="../media/image6.svg"/><Relationship Id="rId12" Type="http://schemas.openxmlformats.org/officeDocument/2006/relationships/image" Target="../media/image30.png"/><Relationship Id="rId13" Type="http://schemas.openxmlformats.org/officeDocument/2006/relationships/image" Target="../media/image31.svg"/><Relationship Id="rId14" Type="http://schemas.openxmlformats.org/officeDocument/2006/relationships/image" Target="../media/image9.png"/><Relationship Id="rId15" Type="http://schemas.openxmlformats.org/officeDocument/2006/relationships/image" Target="../media/image10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Relationship Id="rId4" Type="http://schemas.openxmlformats.org/officeDocument/2006/relationships/image" Target="../media/image26.png"/><Relationship Id="rId5" Type="http://schemas.openxmlformats.org/officeDocument/2006/relationships/image" Target="../media/image27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30.png"/><Relationship Id="rId9" Type="http://schemas.openxmlformats.org/officeDocument/2006/relationships/image" Target="../media/image31.svg"/><Relationship Id="rId10" Type="http://schemas.openxmlformats.org/officeDocument/2006/relationships/image" Target="../media/image32.png"/><Relationship Id="rId11" Type="http://schemas.openxmlformats.org/officeDocument/2006/relationships/image" Target="../media/image33.svg"/><Relationship Id="rId12" Type="http://schemas.openxmlformats.org/officeDocument/2006/relationships/image" Target="../media/image37.png"/><Relationship Id="rId13" Type="http://schemas.openxmlformats.org/officeDocument/2006/relationships/image" Target="../media/image38.sv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37.png"/><Relationship Id="rId11" Type="http://schemas.openxmlformats.org/officeDocument/2006/relationships/image" Target="../media/image38.svg"/><Relationship Id="rId12" Type="http://schemas.openxmlformats.org/officeDocument/2006/relationships/image" Target="../media/image17.png"/><Relationship Id="rId13" Type="http://schemas.openxmlformats.org/officeDocument/2006/relationships/image" Target="../media/image18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1320" y="5615759"/>
            <a:ext cx="6503276" cy="4114800"/>
          </a:xfrm>
          <a:custGeom>
            <a:avLst/>
            <a:gdLst/>
            <a:ahLst/>
            <a:cxnLst/>
            <a:rect r="r" b="b" t="t" l="l"/>
            <a:pathLst>
              <a:path h="4114800" w="6503276">
                <a:moveTo>
                  <a:pt x="0" y="0"/>
                </a:moveTo>
                <a:lnTo>
                  <a:pt x="6503276" y="0"/>
                </a:lnTo>
                <a:lnTo>
                  <a:pt x="65032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86864" y="2106633"/>
            <a:ext cx="2814723" cy="4539876"/>
          </a:xfrm>
          <a:custGeom>
            <a:avLst/>
            <a:gdLst/>
            <a:ahLst/>
            <a:cxnLst/>
            <a:rect r="r" b="b" t="t" l="l"/>
            <a:pathLst>
              <a:path h="4539876" w="2814723">
                <a:moveTo>
                  <a:pt x="0" y="0"/>
                </a:moveTo>
                <a:lnTo>
                  <a:pt x="2814724" y="0"/>
                </a:lnTo>
                <a:lnTo>
                  <a:pt x="2814724" y="4539876"/>
                </a:lnTo>
                <a:lnTo>
                  <a:pt x="0" y="4539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55416" y="8291512"/>
            <a:ext cx="4100910" cy="2878093"/>
          </a:xfrm>
          <a:custGeom>
            <a:avLst/>
            <a:gdLst/>
            <a:ahLst/>
            <a:cxnLst/>
            <a:rect r="r" b="b" t="t" l="l"/>
            <a:pathLst>
              <a:path h="2878093" w="4100910">
                <a:moveTo>
                  <a:pt x="0" y="0"/>
                </a:moveTo>
                <a:lnTo>
                  <a:pt x="4100910" y="0"/>
                </a:lnTo>
                <a:lnTo>
                  <a:pt x="4100910" y="2878094"/>
                </a:lnTo>
                <a:lnTo>
                  <a:pt x="0" y="28780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8904" y="2531709"/>
            <a:ext cx="2708287" cy="4114800"/>
          </a:xfrm>
          <a:custGeom>
            <a:avLst/>
            <a:gdLst/>
            <a:ahLst/>
            <a:cxnLst/>
            <a:rect r="r" b="b" t="t" l="l"/>
            <a:pathLst>
              <a:path h="4114800" w="2708287">
                <a:moveTo>
                  <a:pt x="0" y="0"/>
                </a:moveTo>
                <a:lnTo>
                  <a:pt x="2708286" y="0"/>
                </a:lnTo>
                <a:lnTo>
                  <a:pt x="2708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092407" y="8229600"/>
            <a:ext cx="6357135" cy="4114800"/>
          </a:xfrm>
          <a:custGeom>
            <a:avLst/>
            <a:gdLst/>
            <a:ahLst/>
            <a:cxnLst/>
            <a:rect r="r" b="b" t="t" l="l"/>
            <a:pathLst>
              <a:path h="4114800" w="6357135">
                <a:moveTo>
                  <a:pt x="0" y="0"/>
                </a:moveTo>
                <a:lnTo>
                  <a:pt x="6357135" y="0"/>
                </a:lnTo>
                <a:lnTo>
                  <a:pt x="63571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454268" y="-1028700"/>
            <a:ext cx="2551176" cy="4114800"/>
          </a:xfrm>
          <a:custGeom>
            <a:avLst/>
            <a:gdLst/>
            <a:ahLst/>
            <a:cxnLst/>
            <a:rect r="r" b="b" t="t" l="l"/>
            <a:pathLst>
              <a:path h="4114800" w="2551176">
                <a:moveTo>
                  <a:pt x="2551176" y="0"/>
                </a:moveTo>
                <a:lnTo>
                  <a:pt x="0" y="0"/>
                </a:lnTo>
                <a:lnTo>
                  <a:pt x="0" y="4114800"/>
                </a:lnTo>
                <a:lnTo>
                  <a:pt x="2551176" y="4114800"/>
                </a:lnTo>
                <a:lnTo>
                  <a:pt x="2551176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291544" y="1756544"/>
            <a:ext cx="9443917" cy="345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2000" spc="-933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Worksight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54697" y="5492188"/>
            <a:ext cx="9144000" cy="33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b="true" sz="1800" spc="8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DESERT EAGLES · AMD DEVELOPER HACKATHON ACT III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38560" y="7759892"/>
            <a:ext cx="5943600" cy="929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4"/>
              </a:lnSpc>
            </a:pPr>
            <a:r>
              <a:rPr lang="en-US" sz="20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Find defects on a new part from 20 photos of good parts. Gemma on AMD explains what to check.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71033" y="8990933"/>
            <a:ext cx="4788267" cy="26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09"/>
              </a:lnSpc>
            </a:pPr>
            <a:r>
              <a:rPr lang="en-US" sz="2170" i="true" spc="62">
                <a:solidFill>
                  <a:srgbClr val="1C0140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web-production-d9743.up.railway.app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60350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1C0140"/>
                </a:solidFill>
                <a:latin typeface="Proxima Nova"/>
              </a:rPr>
              <a:t>Intelligent Industry track · visual quality inspection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1878" y="-466924"/>
            <a:ext cx="2870338" cy="4902751"/>
          </a:xfrm>
          <a:custGeom>
            <a:avLst/>
            <a:gdLst/>
            <a:ahLst/>
            <a:cxnLst/>
            <a:rect r="r" b="b" t="t" l="l"/>
            <a:pathLst>
              <a:path h="4902751" w="2870338">
                <a:moveTo>
                  <a:pt x="0" y="0"/>
                </a:moveTo>
                <a:lnTo>
                  <a:pt x="2870338" y="0"/>
                </a:lnTo>
                <a:lnTo>
                  <a:pt x="2870338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4000" y="4435827"/>
            <a:ext cx="5511729" cy="3868232"/>
          </a:xfrm>
          <a:custGeom>
            <a:avLst/>
            <a:gdLst/>
            <a:ahLst/>
            <a:cxnLst/>
            <a:rect r="r" b="b" t="t" l="l"/>
            <a:pathLst>
              <a:path h="3868232" w="5511729">
                <a:moveTo>
                  <a:pt x="0" y="0"/>
                </a:moveTo>
                <a:lnTo>
                  <a:pt x="5511729" y="0"/>
                </a:lnTo>
                <a:lnTo>
                  <a:pt x="5511729" y="3868232"/>
                </a:lnTo>
                <a:lnTo>
                  <a:pt x="0" y="3868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96463" y="1028700"/>
            <a:ext cx="3841974" cy="4902751"/>
          </a:xfrm>
          <a:custGeom>
            <a:avLst/>
            <a:gdLst/>
            <a:ahLst/>
            <a:cxnLst/>
            <a:rect r="r" b="b" t="t" l="l"/>
            <a:pathLst>
              <a:path h="4902751" w="3841974">
                <a:moveTo>
                  <a:pt x="0" y="0"/>
                </a:moveTo>
                <a:lnTo>
                  <a:pt x="3841974" y="0"/>
                </a:lnTo>
                <a:lnTo>
                  <a:pt x="3841974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0492" y="6813873"/>
            <a:ext cx="7574475" cy="4902751"/>
          </a:xfrm>
          <a:custGeom>
            <a:avLst/>
            <a:gdLst/>
            <a:ahLst/>
            <a:cxnLst/>
            <a:rect r="r" b="b" t="t" l="l"/>
            <a:pathLst>
              <a:path h="4902751" w="7574475">
                <a:moveTo>
                  <a:pt x="0" y="0"/>
                </a:moveTo>
                <a:lnTo>
                  <a:pt x="7574475" y="0"/>
                </a:lnTo>
                <a:lnTo>
                  <a:pt x="7574475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66515" y="5807652"/>
            <a:ext cx="1832956" cy="2057400"/>
          </a:xfrm>
          <a:custGeom>
            <a:avLst/>
            <a:gdLst/>
            <a:ahLst/>
            <a:cxnLst/>
            <a:rect r="r" b="b" t="t" l="l"/>
            <a:pathLst>
              <a:path h="2057400" w="1832956">
                <a:moveTo>
                  <a:pt x="0" y="0"/>
                </a:moveTo>
                <a:lnTo>
                  <a:pt x="1832957" y="0"/>
                </a:lnTo>
                <a:lnTo>
                  <a:pt x="1832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600303" y="822960"/>
            <a:ext cx="6658997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8000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Why this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00303" y="5394960"/>
            <a:ext cx="6658997" cy="219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Defects are rare, so collecting and labelling hundreds of them takes weeks, and every new part or camera view starts again.</a:t>
            </a:r>
          </a:p>
          <a:p>
            <a:pPr algn="l">
              <a:lnSpc>
                <a:spcPts val="3590"/>
              </a:lnSpc>
              <a:spcBef>
                <a:spcPts val="1439"/>
              </a:spcBef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Quality engineers end up checking by eye. Worksight starts from what every line already has: photos of good parts.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00303" y="3566160"/>
            <a:ext cx="6675120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3200" b="1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A new part on the line has no defect dataset.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0991" y="3811252"/>
            <a:ext cx="3203448" cy="4517014"/>
            <a:chOff x="0" y="0"/>
            <a:chExt cx="890986" cy="1256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0986" cy="1256333"/>
            </a:xfrm>
            <a:custGeom>
              <a:avLst/>
              <a:gdLst/>
              <a:ahLst/>
              <a:cxnLst/>
              <a:rect r="r" b="b" t="t" l="l"/>
              <a:pathLst>
                <a:path h="1256333" w="890986">
                  <a:moveTo>
                    <a:pt x="0" y="0"/>
                  </a:moveTo>
                  <a:lnTo>
                    <a:pt x="890986" y="0"/>
                  </a:lnTo>
                  <a:lnTo>
                    <a:pt x="890986" y="1256333"/>
                  </a:lnTo>
                  <a:lnTo>
                    <a:pt x="0" y="1256333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90986" cy="1294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48785" y="4181612"/>
            <a:ext cx="2791104" cy="279110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336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917819" y="3811252"/>
            <a:ext cx="3203448" cy="4517014"/>
            <a:chOff x="0" y="0"/>
            <a:chExt cx="890986" cy="1256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0986" cy="1256333"/>
            </a:xfrm>
            <a:custGeom>
              <a:avLst/>
              <a:gdLst/>
              <a:ahLst/>
              <a:cxnLst/>
              <a:rect r="r" b="b" t="t" l="l"/>
              <a:pathLst>
                <a:path h="1256333" w="890986">
                  <a:moveTo>
                    <a:pt x="0" y="0"/>
                  </a:moveTo>
                  <a:lnTo>
                    <a:pt x="890986" y="0"/>
                  </a:lnTo>
                  <a:lnTo>
                    <a:pt x="890986" y="1256333"/>
                  </a:lnTo>
                  <a:lnTo>
                    <a:pt x="0" y="1256333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90986" cy="1294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115612" y="4181612"/>
            <a:ext cx="2791104" cy="279110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115739" t="-1151" r="-45630" b="-73312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5642411" y="968866"/>
            <a:ext cx="4106217" cy="4571699"/>
          </a:xfrm>
          <a:custGeom>
            <a:avLst/>
            <a:gdLst/>
            <a:ahLst/>
            <a:cxnLst/>
            <a:rect r="r" b="b" t="t" l="l"/>
            <a:pathLst>
              <a:path h="4571699" w="4106217">
                <a:moveTo>
                  <a:pt x="0" y="0"/>
                </a:moveTo>
                <a:lnTo>
                  <a:pt x="4106216" y="0"/>
                </a:lnTo>
                <a:lnTo>
                  <a:pt x="4106216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096575" y="-798381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024771" y="5809341"/>
            <a:ext cx="3341496" cy="4571699"/>
          </a:xfrm>
          <a:custGeom>
            <a:avLst/>
            <a:gdLst/>
            <a:ahLst/>
            <a:cxnLst/>
            <a:rect r="r" b="b" t="t" l="l"/>
            <a:pathLst>
              <a:path h="4571699" w="3341496">
                <a:moveTo>
                  <a:pt x="0" y="0"/>
                </a:moveTo>
                <a:lnTo>
                  <a:pt x="3341496" y="0"/>
                </a:lnTo>
                <a:lnTo>
                  <a:pt x="3341496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998167" y="4167526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4" y="0"/>
                </a:lnTo>
                <a:lnTo>
                  <a:pt x="2644244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50991" y="1188720"/>
            <a:ext cx="1188720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31"/>
              </a:lnSpc>
            </a:pPr>
            <a:r>
              <a:rPr lang="en-US" b="true" sz="7200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About us · Desert Eagles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1685496" y="9074616"/>
            <a:ext cx="4100910" cy="2878093"/>
          </a:xfrm>
          <a:custGeom>
            <a:avLst/>
            <a:gdLst/>
            <a:ahLst/>
            <a:cxnLst/>
            <a:rect r="r" b="b" t="t" l="l"/>
            <a:pathLst>
              <a:path h="2878093" w="4100910">
                <a:moveTo>
                  <a:pt x="0" y="0"/>
                </a:moveTo>
                <a:lnTo>
                  <a:pt x="4100911" y="0"/>
                </a:lnTo>
                <a:lnTo>
                  <a:pt x="4100911" y="2878094"/>
                </a:lnTo>
                <a:lnTo>
                  <a:pt x="0" y="287809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id="29" name="Picture 28" descr="person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45336" y="4178808"/>
            <a:ext cx="2788920" cy="2788920"/>
          </a:xfrm>
          <a:prstGeom prst="rect">
            <a:avLst/>
          </a:prstGeom>
        </p:spPr>
      </p:pic>
      <p:pic>
        <p:nvPicPr>
          <p:cNvPr id="30" name="Picture 29" descr="person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11496" y="4178808"/>
            <a:ext cx="2788920" cy="278892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548785" y="7248433"/>
            <a:ext cx="2791104" cy="3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true" sz="2556" spc="-16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Bakhtiyar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57162" y="7639952"/>
            <a:ext cx="2791104" cy="22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6"/>
              </a:lnSpc>
            </a:pPr>
            <a:r>
              <a:rPr lang="en-US" sz="1893" spc="-11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CEO · AI engineer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15612" y="7248433"/>
            <a:ext cx="2791104" cy="3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true" sz="2556" spc="-16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Ali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23990" y="7639952"/>
            <a:ext cx="2791104" cy="22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6"/>
              </a:lnSpc>
            </a:pPr>
            <a:r>
              <a:rPr lang="en-US" sz="1893" spc="-11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Frontend developer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8404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C0140"/>
                </a:solidFill>
                <a:latin typeface="Proxima Nova"/>
              </a:rPr>
              <a:t>Two-person team behind Worksight.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1C0140"/>
                </a:solidFill>
                <a:latin typeface="Proxima Nova"/>
              </a:rPr>
              <a:t>Bakhtiyar: detector, benchmarks, Gemma integration.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1C0140"/>
                </a:solidFill>
                <a:latin typeface="Proxima Nova"/>
              </a:rPr>
              <a:t>Ali: operator workspace and reports.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1C0140"/>
                </a:solidFill>
                <a:latin typeface="Proxima Nova"/>
              </a:rPr>
              <a:t>Telegram: @kingcrimson314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68821" y="3776476"/>
            <a:ext cx="4492767" cy="4386574"/>
          </a:xfrm>
          <a:custGeom>
            <a:avLst/>
            <a:gdLst/>
            <a:ahLst/>
            <a:cxnLst/>
            <a:rect r="r" b="b" t="t" l="l"/>
            <a:pathLst>
              <a:path h="4386574" w="4492767">
                <a:moveTo>
                  <a:pt x="0" y="0"/>
                </a:moveTo>
                <a:lnTo>
                  <a:pt x="4492766" y="0"/>
                </a:lnTo>
                <a:lnTo>
                  <a:pt x="4492766" y="4386574"/>
                </a:lnTo>
                <a:lnTo>
                  <a:pt x="0" y="4386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031273" y="1072383"/>
            <a:ext cx="3106566" cy="4250276"/>
          </a:xfrm>
          <a:custGeom>
            <a:avLst/>
            <a:gdLst/>
            <a:ahLst/>
            <a:cxnLst/>
            <a:rect r="r" b="b" t="t" l="l"/>
            <a:pathLst>
              <a:path h="4250276" w="3106566">
                <a:moveTo>
                  <a:pt x="3106566" y="0"/>
                </a:moveTo>
                <a:lnTo>
                  <a:pt x="0" y="0"/>
                </a:lnTo>
                <a:lnTo>
                  <a:pt x="0" y="4250277"/>
                </a:lnTo>
                <a:lnTo>
                  <a:pt x="3106566" y="4250277"/>
                </a:lnTo>
                <a:lnTo>
                  <a:pt x="310656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3926" y="4898623"/>
            <a:ext cx="3812587" cy="2675743"/>
          </a:xfrm>
          <a:custGeom>
            <a:avLst/>
            <a:gdLst/>
            <a:ahLst/>
            <a:cxnLst/>
            <a:rect r="r" b="b" t="t" l="l"/>
            <a:pathLst>
              <a:path h="2675743" w="3812587">
                <a:moveTo>
                  <a:pt x="0" y="0"/>
                </a:moveTo>
                <a:lnTo>
                  <a:pt x="3812588" y="0"/>
                </a:lnTo>
                <a:lnTo>
                  <a:pt x="3812588" y="2675743"/>
                </a:lnTo>
                <a:lnTo>
                  <a:pt x="0" y="2675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46295" y="8811581"/>
            <a:ext cx="4510398" cy="2903056"/>
          </a:xfrm>
          <a:custGeom>
            <a:avLst/>
            <a:gdLst/>
            <a:ahLst/>
            <a:cxnLst/>
            <a:rect r="r" b="b" t="t" l="l"/>
            <a:pathLst>
              <a:path h="2903056" w="4510398">
                <a:moveTo>
                  <a:pt x="0" y="0"/>
                </a:moveTo>
                <a:lnTo>
                  <a:pt x="4510398" y="0"/>
                </a:lnTo>
                <a:lnTo>
                  <a:pt x="4510398" y="2903056"/>
                </a:lnTo>
                <a:lnTo>
                  <a:pt x="0" y="29030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92664" y="1606629"/>
            <a:ext cx="8853266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8000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How it works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2664" y="3648065"/>
            <a:ext cx="160512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1.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09975" y="3544997"/>
            <a:ext cx="5481737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20 photos of good parts build a profile in about 9 seconds. No defect labels, no training.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2664" y="5525236"/>
            <a:ext cx="160512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2.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09975" y="5422168"/>
            <a:ext cx="5481737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Each new part gets an anomaly score, a heatmap of where it differs and the closest good reference.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2664" y="7612391"/>
            <a:ext cx="160512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3.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09975" y="7509323"/>
            <a:ext cx="5481737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Gemma on AMD Token Factory explains what looks wrong and what to check. The engineer records the decision.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0">
            <a:off x="10768821" y="789751"/>
            <a:ext cx="2430360" cy="3454000"/>
          </a:xfrm>
          <a:custGeom>
            <a:avLst/>
            <a:gdLst/>
            <a:ahLst/>
            <a:cxnLst/>
            <a:rect r="r" b="b" t="t" l="l"/>
            <a:pathLst>
              <a:path h="3454000" w="2430360">
                <a:moveTo>
                  <a:pt x="2430359" y="0"/>
                </a:moveTo>
                <a:lnTo>
                  <a:pt x="0" y="0"/>
                </a:lnTo>
                <a:lnTo>
                  <a:pt x="0" y="3454000"/>
                </a:lnTo>
                <a:lnTo>
                  <a:pt x="2430359" y="3454000"/>
                </a:lnTo>
                <a:lnTo>
                  <a:pt x="2430359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3199180" y="7200900"/>
            <a:ext cx="6357135" cy="4114800"/>
          </a:xfrm>
          <a:custGeom>
            <a:avLst/>
            <a:gdLst/>
            <a:ahLst/>
            <a:cxnLst/>
            <a:rect r="r" b="b" t="t" l="l"/>
            <a:pathLst>
              <a:path h="4114800" w="6357135">
                <a:moveTo>
                  <a:pt x="6357135" y="0"/>
                </a:moveTo>
                <a:lnTo>
                  <a:pt x="0" y="0"/>
                </a:lnTo>
                <a:lnTo>
                  <a:pt x="0" y="4114800"/>
                </a:lnTo>
                <a:lnTo>
                  <a:pt x="6357135" y="4114800"/>
                </a:lnTo>
                <a:lnTo>
                  <a:pt x="635713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5" id="5"/>
          <p:cNvSpPr/>
          <p:nvPr/>
        </p:nvSpPr>
        <p:spPr>
          <a:xfrm flipH="false" flipV="false" rot="0">
            <a:off x="-1951016" y="3757380"/>
            <a:ext cx="6503276" cy="4114800"/>
          </a:xfrm>
          <a:custGeom>
            <a:avLst/>
            <a:gdLst/>
            <a:ahLst/>
            <a:cxnLst/>
            <a:rect r="r" b="b" t="t" l="l"/>
            <a:pathLst>
              <a:path h="4114800" w="6503276">
                <a:moveTo>
                  <a:pt x="0" y="0"/>
                </a:moveTo>
                <a:lnTo>
                  <a:pt x="6503275" y="0"/>
                </a:lnTo>
                <a:lnTo>
                  <a:pt x="65032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4528" y="248254"/>
            <a:ext cx="2814723" cy="4539876"/>
          </a:xfrm>
          <a:custGeom>
            <a:avLst/>
            <a:gdLst/>
            <a:ahLst/>
            <a:cxnLst/>
            <a:rect r="r" b="b" t="t" l="l"/>
            <a:pathLst>
              <a:path h="4539876" w="2814723">
                <a:moveTo>
                  <a:pt x="0" y="0"/>
                </a:moveTo>
                <a:lnTo>
                  <a:pt x="2814723" y="0"/>
                </a:lnTo>
                <a:lnTo>
                  <a:pt x="2814723" y="4539876"/>
                </a:lnTo>
                <a:lnTo>
                  <a:pt x="0" y="45398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83277" y="7119033"/>
            <a:ext cx="4510398" cy="2903056"/>
          </a:xfrm>
          <a:custGeom>
            <a:avLst/>
            <a:gdLst/>
            <a:ahLst/>
            <a:cxnLst/>
            <a:rect r="r" b="b" t="t" l="l"/>
            <a:pathLst>
              <a:path h="2903056" w="4510398">
                <a:moveTo>
                  <a:pt x="0" y="0"/>
                </a:moveTo>
                <a:lnTo>
                  <a:pt x="4510398" y="0"/>
                </a:lnTo>
                <a:lnTo>
                  <a:pt x="4510398" y="2903056"/>
                </a:lnTo>
                <a:lnTo>
                  <a:pt x="0" y="29030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79107" y="7684128"/>
            <a:ext cx="1900289" cy="4114800"/>
          </a:xfrm>
          <a:custGeom>
            <a:avLst/>
            <a:gdLst/>
            <a:ahLst/>
            <a:cxnLst/>
            <a:rect r="r" b="b" t="t" l="l"/>
            <a:pathLst>
              <a:path h="4114800" w="1900289">
                <a:moveTo>
                  <a:pt x="0" y="0"/>
                </a:moveTo>
                <a:lnTo>
                  <a:pt x="1900289" y="0"/>
                </a:lnTo>
                <a:lnTo>
                  <a:pt x="19002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104239" y="1097280"/>
            <a:ext cx="1097280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31"/>
              </a:lnSpc>
            </a:pPr>
            <a:r>
              <a:rPr lang="en-US" b="true" sz="8000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Benchmarks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943600" y="3291840"/>
          <a:ext cx="11521440" cy="5120640"/>
        </p:xfrm>
        <a:graphic>
          <a:graphicData uri="http://schemas.openxmlformats.org/drawingml/2006/chart">
            <c:chart xmlns:c="http://schemas.openxmlformats.org/drawingml/2006/chart" r:id="rId1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035040" y="854964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0140"/>
                </a:solidFill>
                <a:latin typeface="Proxima Nova"/>
              </a:rPr>
              <a:t>Public VisA dataset, four circuit-board sets, held-out test: 100 defective and about 100 good boards each, 20 good references per profile, CPU. Not an AMD GPU run.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35229" y="6309360"/>
            <a:ext cx="7624071" cy="269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8000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The live product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35229" y="3017520"/>
            <a:ext cx="7498079" cy="219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Heatmap and closest good reference · Pass, Fail or Needs review</a:t>
            </a:r>
          </a:p>
          <a:p>
            <a:pPr algn="l">
              <a:lnSpc>
                <a:spcPts val="3590"/>
              </a:lnSpc>
              <a:spcBef>
                <a:spcPts val="1260"/>
              </a:spcBef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Gemma's explanation starts with each inspection · one-page PDF report</a:t>
            </a:r>
          </a:p>
          <a:p>
            <a:pPr algn="l">
              <a:lnSpc>
                <a:spcPts val="3590"/>
              </a:lnSpc>
              <a:spcBef>
                <a:spcPts val="1260"/>
              </a:spcBef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History, batch inspection, part documents · 7 languages · guided tour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35229" y="1318585"/>
            <a:ext cx="7498079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3200" b="1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Algorithm, AI and engineer in one view.</a:t>
            </a:r>
          </a:p>
        </p:txBody>
      </p:sp>
      <p:pic>
        <p:nvPicPr>
          <p:cNvPr id="5" name="Picture 4" descr="app-to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1645920"/>
            <a:ext cx="87782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54880" y="1371600"/>
            <a:ext cx="1280160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131"/>
              </a:lnSpc>
            </a:pPr>
            <a:r>
              <a:rPr lang="en-US" b="true" sz="7200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Partner tech and why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44774" y="4120019"/>
            <a:ext cx="3354861" cy="4483132"/>
            <a:chOff x="0" y="0"/>
            <a:chExt cx="933099" cy="12469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3099" cy="1246909"/>
            </a:xfrm>
            <a:custGeom>
              <a:avLst/>
              <a:gdLst/>
              <a:ahLst/>
              <a:cxnLst/>
              <a:rect r="r" b="b" t="t" l="l"/>
              <a:pathLst>
                <a:path h="1246909" w="933099">
                  <a:moveTo>
                    <a:pt x="0" y="0"/>
                  </a:moveTo>
                  <a:lnTo>
                    <a:pt x="933099" y="0"/>
                  </a:lnTo>
                  <a:lnTo>
                    <a:pt x="933099" y="1246909"/>
                  </a:lnTo>
                  <a:lnTo>
                    <a:pt x="0" y="1246909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33099" cy="1285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680190" y="4120019"/>
            <a:ext cx="3354861" cy="4483132"/>
            <a:chOff x="0" y="0"/>
            <a:chExt cx="933099" cy="12469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3099" cy="1246909"/>
            </a:xfrm>
            <a:custGeom>
              <a:avLst/>
              <a:gdLst/>
              <a:ahLst/>
              <a:cxnLst/>
              <a:rect r="r" b="b" t="t" l="l"/>
              <a:pathLst>
                <a:path h="1246909" w="933099">
                  <a:moveTo>
                    <a:pt x="0" y="0"/>
                  </a:moveTo>
                  <a:lnTo>
                    <a:pt x="933099" y="0"/>
                  </a:lnTo>
                  <a:lnTo>
                    <a:pt x="933099" y="1246909"/>
                  </a:lnTo>
                  <a:lnTo>
                    <a:pt x="0" y="1246909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33099" cy="1285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12886" y="4120019"/>
            <a:ext cx="3354861" cy="4483132"/>
            <a:chOff x="0" y="0"/>
            <a:chExt cx="933099" cy="12469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3099" cy="1246909"/>
            </a:xfrm>
            <a:custGeom>
              <a:avLst/>
              <a:gdLst/>
              <a:ahLst/>
              <a:cxnLst/>
              <a:rect r="r" b="b" t="t" l="l"/>
              <a:pathLst>
                <a:path h="1246909" w="933099">
                  <a:moveTo>
                    <a:pt x="0" y="0"/>
                  </a:moveTo>
                  <a:lnTo>
                    <a:pt x="933099" y="0"/>
                  </a:lnTo>
                  <a:lnTo>
                    <a:pt x="933099" y="1246909"/>
                  </a:lnTo>
                  <a:lnTo>
                    <a:pt x="0" y="1246909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33099" cy="1285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48303" y="4120019"/>
            <a:ext cx="3354861" cy="4483132"/>
            <a:chOff x="0" y="0"/>
            <a:chExt cx="933099" cy="12469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3099" cy="1246909"/>
            </a:xfrm>
            <a:custGeom>
              <a:avLst/>
              <a:gdLst/>
              <a:ahLst/>
              <a:cxnLst/>
              <a:rect r="r" b="b" t="t" l="l"/>
              <a:pathLst>
                <a:path h="1246909" w="933099">
                  <a:moveTo>
                    <a:pt x="0" y="0"/>
                  </a:moveTo>
                  <a:lnTo>
                    <a:pt x="933099" y="0"/>
                  </a:lnTo>
                  <a:lnTo>
                    <a:pt x="933099" y="1246909"/>
                  </a:lnTo>
                  <a:lnTo>
                    <a:pt x="0" y="1246909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33099" cy="1285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510269" y="5323221"/>
            <a:ext cx="2223870" cy="263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sz="16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Runs Gemma on AMD GPUs behind an OpenAI-compatible API. The key stays on our server.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26652" y="4836189"/>
            <a:ext cx="2791104" cy="3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1" sz="1900" spc="-16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AMD Token Factory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44326" y="5326464"/>
            <a:ext cx="2223870" cy="263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sz="16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Google's vision-language model reads the photo, heatmap, closest reference and part documents and explains in plain words.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60709" y="4839433"/>
            <a:ext cx="2791104" cy="3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1" sz="1900" spc="-16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Gemma 4 31B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75893" y="5323221"/>
            <a:ext cx="2223870" cy="263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sz="16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Fallback model on Token Factory, so an explanation still arrives when Gemma is busy.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92276" y="4836189"/>
            <a:ext cx="2791104" cy="3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1" sz="1900" spc="-16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DeepSeek V4.1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07461" y="5319978"/>
            <a:ext cx="2223870" cy="263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sz="16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Next: the detector itself on an AMD GPU with ROCm. The run script is ready in the repo.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23844" y="4832946"/>
            <a:ext cx="2791104" cy="3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1" sz="1900" spc="-16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AMD Instinct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27923" y="-1257149"/>
            <a:ext cx="4106217" cy="4571699"/>
          </a:xfrm>
          <a:custGeom>
            <a:avLst/>
            <a:gdLst/>
            <a:ahLst/>
            <a:cxnLst/>
            <a:rect r="r" b="b" t="t" l="l"/>
            <a:pathLst>
              <a:path h="4571699" w="4106217">
                <a:moveTo>
                  <a:pt x="0" y="0"/>
                </a:moveTo>
                <a:lnTo>
                  <a:pt x="4106216" y="0"/>
                </a:lnTo>
                <a:lnTo>
                  <a:pt x="4106216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2200587" y="-2810600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2200587" y="7703353"/>
            <a:ext cx="3341496" cy="4571699"/>
          </a:xfrm>
          <a:custGeom>
            <a:avLst/>
            <a:gdLst/>
            <a:ahLst/>
            <a:cxnLst/>
            <a:rect r="r" b="b" t="t" l="l"/>
            <a:pathLst>
              <a:path h="4571699" w="3341496">
                <a:moveTo>
                  <a:pt x="0" y="0"/>
                </a:moveTo>
                <a:lnTo>
                  <a:pt x="3341496" y="0"/>
                </a:lnTo>
                <a:lnTo>
                  <a:pt x="3341496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-1573503" y="3134857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4" y="0"/>
                </a:lnTo>
                <a:lnTo>
                  <a:pt x="2644244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00303" y="5852160"/>
            <a:ext cx="6658997" cy="219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2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Most tools need labelled defects, or are code libraries for data scientists.</a:t>
            </a:r>
          </a:p>
          <a:p>
            <a:pPr algn="l">
              <a:lnSpc>
                <a:spcPts val="3590"/>
              </a:lnSpc>
              <a:spcBef>
                <a:spcPts val="1320"/>
              </a:spcBef>
            </a:pPr>
            <a:r>
              <a:rPr lang="en-US" sz="22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Worksight starts from good photos, explains each result in plain words and keeps the engineer's decision separate: a workspace for the line, not a notebook.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00303" y="4206240"/>
            <a:ext cx="6675120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800" b="1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AI visual inspection is forecast to grow by about $27B by 2029 (Technavio).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11155" y="1597041"/>
            <a:ext cx="11448145" cy="269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8000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Market and competition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34028" y="4511494"/>
            <a:ext cx="4492767" cy="4386574"/>
          </a:xfrm>
          <a:custGeom>
            <a:avLst/>
            <a:gdLst/>
            <a:ahLst/>
            <a:cxnLst/>
            <a:rect r="r" b="b" t="t" l="l"/>
            <a:pathLst>
              <a:path h="4386574" w="4492767">
                <a:moveTo>
                  <a:pt x="0" y="0"/>
                </a:moveTo>
                <a:lnTo>
                  <a:pt x="4492767" y="0"/>
                </a:lnTo>
                <a:lnTo>
                  <a:pt x="4492767" y="4386574"/>
                </a:lnTo>
                <a:lnTo>
                  <a:pt x="0" y="4386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519254" y="-2162654"/>
            <a:ext cx="3106566" cy="4250276"/>
          </a:xfrm>
          <a:custGeom>
            <a:avLst/>
            <a:gdLst/>
            <a:ahLst/>
            <a:cxnLst/>
            <a:rect r="r" b="b" t="t" l="l"/>
            <a:pathLst>
              <a:path h="4250276" w="3106566">
                <a:moveTo>
                  <a:pt x="3106565" y="0"/>
                </a:moveTo>
                <a:lnTo>
                  <a:pt x="0" y="0"/>
                </a:lnTo>
                <a:lnTo>
                  <a:pt x="0" y="4250276"/>
                </a:lnTo>
                <a:lnTo>
                  <a:pt x="3106565" y="4250276"/>
                </a:lnTo>
                <a:lnTo>
                  <a:pt x="310656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11155" y="5480192"/>
            <a:ext cx="3332845" cy="2339051"/>
          </a:xfrm>
          <a:custGeom>
            <a:avLst/>
            <a:gdLst/>
            <a:ahLst/>
            <a:cxnLst/>
            <a:rect r="r" b="b" t="t" l="l"/>
            <a:pathLst>
              <a:path h="2339051" w="3332845">
                <a:moveTo>
                  <a:pt x="0" y="0"/>
                </a:moveTo>
                <a:lnTo>
                  <a:pt x="3332845" y="0"/>
                </a:lnTo>
                <a:lnTo>
                  <a:pt x="3332845" y="2339051"/>
                </a:lnTo>
                <a:lnTo>
                  <a:pt x="0" y="2339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1503" y="9546598"/>
            <a:ext cx="4510398" cy="2903056"/>
          </a:xfrm>
          <a:custGeom>
            <a:avLst/>
            <a:gdLst/>
            <a:ahLst/>
            <a:cxnLst/>
            <a:rect r="r" b="b" t="t" l="l"/>
            <a:pathLst>
              <a:path h="2903056" w="4510398">
                <a:moveTo>
                  <a:pt x="0" y="0"/>
                </a:moveTo>
                <a:lnTo>
                  <a:pt x="4510398" y="0"/>
                </a:lnTo>
                <a:lnTo>
                  <a:pt x="4510398" y="2903056"/>
                </a:lnTo>
                <a:lnTo>
                  <a:pt x="0" y="29030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034028" y="1524768"/>
            <a:ext cx="2430360" cy="3454000"/>
          </a:xfrm>
          <a:custGeom>
            <a:avLst/>
            <a:gdLst/>
            <a:ahLst/>
            <a:cxnLst/>
            <a:rect r="r" b="b" t="t" l="l"/>
            <a:pathLst>
              <a:path h="3454000" w="2430360">
                <a:moveTo>
                  <a:pt x="2430360" y="0"/>
                </a:moveTo>
                <a:lnTo>
                  <a:pt x="0" y="0"/>
                </a:lnTo>
                <a:lnTo>
                  <a:pt x="0" y="3454000"/>
                </a:lnTo>
                <a:lnTo>
                  <a:pt x="2430360" y="3454000"/>
                </a:lnTo>
                <a:lnTo>
                  <a:pt x="243036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3464388" y="7935917"/>
            <a:ext cx="6357135" cy="4114800"/>
          </a:xfrm>
          <a:custGeom>
            <a:avLst/>
            <a:gdLst/>
            <a:ahLst/>
            <a:cxnLst/>
            <a:rect r="r" b="b" t="t" l="l"/>
            <a:pathLst>
              <a:path h="4114800" w="6357135">
                <a:moveTo>
                  <a:pt x="6357135" y="0"/>
                </a:moveTo>
                <a:lnTo>
                  <a:pt x="0" y="0"/>
                </a:lnTo>
                <a:lnTo>
                  <a:pt x="0" y="4114800"/>
                </a:lnTo>
                <a:lnTo>
                  <a:pt x="6357135" y="4114800"/>
                </a:lnTo>
                <a:lnTo>
                  <a:pt x="635713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774922" y="2913609"/>
            <a:ext cx="1523200" cy="3298268"/>
          </a:xfrm>
          <a:custGeom>
            <a:avLst/>
            <a:gdLst/>
            <a:ahLst/>
            <a:cxnLst/>
            <a:rect r="r" b="b" t="t" l="l"/>
            <a:pathLst>
              <a:path h="3298268" w="1523200">
                <a:moveTo>
                  <a:pt x="1523200" y="0"/>
                </a:moveTo>
                <a:lnTo>
                  <a:pt x="0" y="0"/>
                </a:lnTo>
                <a:lnTo>
                  <a:pt x="0" y="3298268"/>
                </a:lnTo>
                <a:lnTo>
                  <a:pt x="1523200" y="3298268"/>
                </a:lnTo>
                <a:lnTo>
                  <a:pt x="152320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-2095261" y="6704781"/>
            <a:ext cx="2640678" cy="3752902"/>
          </a:xfrm>
          <a:custGeom>
            <a:avLst/>
            <a:gdLst/>
            <a:ahLst/>
            <a:cxnLst/>
            <a:rect r="r" b="b" t="t" l="l"/>
            <a:pathLst>
              <a:path h="3752902" w="2640678">
                <a:moveTo>
                  <a:pt x="2640678" y="0"/>
                </a:moveTo>
                <a:lnTo>
                  <a:pt x="0" y="0"/>
                </a:lnTo>
                <a:lnTo>
                  <a:pt x="0" y="3752901"/>
                </a:lnTo>
                <a:lnTo>
                  <a:pt x="2640678" y="3752901"/>
                </a:lnTo>
                <a:lnTo>
                  <a:pt x="264067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92664" y="1606629"/>
            <a:ext cx="14798134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7200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Business model and roadmap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92664" y="3648065"/>
            <a:ext cx="160512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1.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09975" y="3544997"/>
            <a:ext cx="5481737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2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Subscription per camera view, or on-premises on AMD hardware for plants that keep images on site.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2664" y="5525236"/>
            <a:ext cx="160512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2.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09975" y="5422168"/>
            <a:ext cx="5481737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2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Pilot on one line and one camera: measure engineer minutes per part and escaped defects.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2664" y="7612391"/>
            <a:ext cx="160512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3.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09975" y="7509323"/>
            <a:ext cx="5481737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2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Next: detector on AMD Instinct, personal accounts and team workspaces, edge station on AMD Ryzen AI.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718898" y="5390422"/>
            <a:ext cx="4106217" cy="4571699"/>
          </a:xfrm>
          <a:custGeom>
            <a:avLst/>
            <a:gdLst/>
            <a:ahLst/>
            <a:cxnLst/>
            <a:rect r="r" b="b" t="t" l="l"/>
            <a:pathLst>
              <a:path h="4571699" w="4106217">
                <a:moveTo>
                  <a:pt x="0" y="0"/>
                </a:moveTo>
                <a:lnTo>
                  <a:pt x="4106217" y="0"/>
                </a:lnTo>
                <a:lnTo>
                  <a:pt x="4106217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173063" y="3623175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58208" y="1263729"/>
            <a:ext cx="3341496" cy="4571699"/>
          </a:xfrm>
          <a:custGeom>
            <a:avLst/>
            <a:gdLst/>
            <a:ahLst/>
            <a:cxnLst/>
            <a:rect r="r" b="b" t="t" l="l"/>
            <a:pathLst>
              <a:path h="4571699" w="3341496">
                <a:moveTo>
                  <a:pt x="0" y="0"/>
                </a:moveTo>
                <a:lnTo>
                  <a:pt x="3341496" y="0"/>
                </a:lnTo>
                <a:lnTo>
                  <a:pt x="3341496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074655" y="8589082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3" y="0"/>
                </a:lnTo>
                <a:lnTo>
                  <a:pt x="2644243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4182055"/>
            <a:ext cx="2848578" cy="1843807"/>
          </a:xfrm>
          <a:custGeom>
            <a:avLst/>
            <a:gdLst/>
            <a:ahLst/>
            <a:cxnLst/>
            <a:rect r="r" b="b" t="t" l="l"/>
            <a:pathLst>
              <a:path h="1843807" w="2848578">
                <a:moveTo>
                  <a:pt x="0" y="0"/>
                </a:moveTo>
                <a:lnTo>
                  <a:pt x="2848578" y="0"/>
                </a:lnTo>
                <a:lnTo>
                  <a:pt x="2848578" y="1843806"/>
                </a:lnTo>
                <a:lnTo>
                  <a:pt x="0" y="18438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12841" y="7406640"/>
            <a:ext cx="6946459" cy="269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8000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Tech stack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92640" y="2651760"/>
            <a:ext cx="7132320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0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Detector: PyTorch, frozen ResNet-18 features, nearest-patch distance, threshold from leave-one-out scores</a:t>
            </a:r>
          </a:p>
          <a:p>
            <a:pPr algn="l">
              <a:lnSpc>
                <a:spcPts val="3590"/>
              </a:lnSpc>
              <a:spcBef>
                <a:spcPts val="1200"/>
              </a:spcBef>
            </a:pPr>
            <a:r>
              <a:rPr lang="en-US" sz="20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Backend: FastAPI, SQLite records, background job queue, PDF/DOCX export</a:t>
            </a:r>
          </a:p>
          <a:p>
            <a:pPr algn="l">
              <a:lnSpc>
                <a:spcPts val="3590"/>
              </a:lnSpc>
              <a:spcBef>
                <a:spcPts val="1200"/>
              </a:spcBef>
            </a:pPr>
            <a:r>
              <a:rPr lang="en-US" sz="20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Web: Next.js 16, React, TypeScript, zod</a:t>
            </a:r>
          </a:p>
          <a:p>
            <a:pPr algn="l">
              <a:lnSpc>
                <a:spcPts val="3590"/>
              </a:lnSpc>
              <a:spcBef>
                <a:spcPts val="1200"/>
              </a:spcBef>
            </a:pPr>
            <a:r>
              <a:rPr lang="en-US" sz="20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AI: Gemma-4-31B-IT on AMD Token Factory, DeepSeek-V4.1-Flash fallback</a:t>
            </a:r>
          </a:p>
          <a:p>
            <a:pPr algn="l">
              <a:lnSpc>
                <a:spcPts val="3590"/>
              </a:lnSpc>
              <a:spcBef>
                <a:spcPts val="1200"/>
              </a:spcBef>
            </a:pPr>
            <a:r>
              <a:rPr lang="en-US" sz="20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Hosting: Railway · Tests: pytest, Vitest, Playwright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92640" y="1513376"/>
            <a:ext cx="7132320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3200" b="1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Small, fast and easy to inspect.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995855" y="-1101234"/>
            <a:ext cx="4106217" cy="4571699"/>
          </a:xfrm>
          <a:custGeom>
            <a:avLst/>
            <a:gdLst/>
            <a:ahLst/>
            <a:cxnLst/>
            <a:rect r="r" b="b" t="t" l="l"/>
            <a:pathLst>
              <a:path h="4571699" w="4106217">
                <a:moveTo>
                  <a:pt x="0" y="0"/>
                </a:moveTo>
                <a:lnTo>
                  <a:pt x="4106216" y="0"/>
                </a:lnTo>
                <a:lnTo>
                  <a:pt x="4106216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0019" y="-2868480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78215" y="3739242"/>
            <a:ext cx="3341496" cy="4571699"/>
          </a:xfrm>
          <a:custGeom>
            <a:avLst/>
            <a:gdLst/>
            <a:ahLst/>
            <a:cxnLst/>
            <a:rect r="r" b="b" t="t" l="l"/>
            <a:pathLst>
              <a:path h="4571699" w="3341496">
                <a:moveTo>
                  <a:pt x="0" y="0"/>
                </a:moveTo>
                <a:lnTo>
                  <a:pt x="3341496" y="0"/>
                </a:lnTo>
                <a:lnTo>
                  <a:pt x="3341496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1611" y="2097427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4" y="0"/>
                </a:lnTo>
                <a:lnTo>
                  <a:pt x="2644244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6321" y="7004517"/>
            <a:ext cx="4486171" cy="3148477"/>
          </a:xfrm>
          <a:custGeom>
            <a:avLst/>
            <a:gdLst/>
            <a:ahLst/>
            <a:cxnLst/>
            <a:rect r="r" b="b" t="t" l="l"/>
            <a:pathLst>
              <a:path h="3148477" w="4486171">
                <a:moveTo>
                  <a:pt x="0" y="0"/>
                </a:moveTo>
                <a:lnTo>
                  <a:pt x="4486172" y="0"/>
                </a:lnTo>
                <a:lnTo>
                  <a:pt x="4486172" y="3148477"/>
                </a:lnTo>
                <a:lnTo>
                  <a:pt x="0" y="31484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99225" y="8701465"/>
            <a:ext cx="4510398" cy="2903056"/>
          </a:xfrm>
          <a:custGeom>
            <a:avLst/>
            <a:gdLst/>
            <a:ahLst/>
            <a:cxnLst/>
            <a:rect r="r" b="b" t="t" l="l"/>
            <a:pathLst>
              <a:path h="2903056" w="4510398">
                <a:moveTo>
                  <a:pt x="0" y="0"/>
                </a:moveTo>
                <a:lnTo>
                  <a:pt x="4510398" y="0"/>
                </a:lnTo>
                <a:lnTo>
                  <a:pt x="4510398" y="2903057"/>
                </a:lnTo>
                <a:lnTo>
                  <a:pt x="0" y="29030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295422" y="7779562"/>
            <a:ext cx="2848578" cy="1843807"/>
          </a:xfrm>
          <a:custGeom>
            <a:avLst/>
            <a:gdLst/>
            <a:ahLst/>
            <a:cxnLst/>
            <a:rect r="r" b="b" t="t" l="l"/>
            <a:pathLst>
              <a:path h="1843807" w="2848578">
                <a:moveTo>
                  <a:pt x="0" y="0"/>
                </a:moveTo>
                <a:lnTo>
                  <a:pt x="2848578" y="0"/>
                </a:lnTo>
                <a:lnTo>
                  <a:pt x="2848578" y="1843807"/>
                </a:lnTo>
                <a:lnTo>
                  <a:pt x="0" y="18438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3" id="3"/>
          <p:cNvSpPr txBox="true"/>
          <p:nvPr/>
        </p:nvSpPr>
        <p:spPr>
          <a:xfrm rot="0">
            <a:off x="1832061" y="6400800"/>
            <a:ext cx="6159427" cy="269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8000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Analytics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32061" y="1097280"/>
            <a:ext cx="6035040" cy="493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AUROC 0.88–0.99 on four PCB sets.</a:t>
            </a:r>
          </a:p>
          <a:p>
            <a:pPr algn="l">
              <a:lnSpc>
                <a:spcPts val="3590"/>
              </a:lnSpc>
              <a:spcBef>
                <a:spcPts val="1260"/>
              </a:spcBef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Detector v2 raised dev AUROC from 0.806 to 0.862 (384 px, all patches).</a:t>
            </a:r>
          </a:p>
          <a:p>
            <a:pPr algn="l">
              <a:lnSpc>
                <a:spcPts val="3590"/>
              </a:lnSpc>
              <a:spcBef>
                <a:spcPts val="1260"/>
              </a:spcBef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A 24-variant scoring sweep found nothing better, so production stayed unchanged.</a:t>
            </a:r>
          </a:p>
          <a:p>
            <a:pPr algn="l">
              <a:lnSpc>
                <a:spcPts val="3590"/>
              </a:lnSpc>
              <a:spcBef>
                <a:spcPts val="1260"/>
              </a:spcBef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0.19–0.30 s median per image on CPU.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0" y="1828800"/>
          <a:ext cx="90525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  <a:gridCol w="1508760"/>
                <a:gridCol w="1508760"/>
                <a:gridCol w="1508760"/>
                <a:gridCol w="1508760"/>
              </a:tblGrid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</a:rPr>
                        <a:t>Set</a:t>
                      </a:r>
                    </a:p>
                  </a:txBody>
                  <a:tcPr>
                    <a:solidFill>
                      <a:srgbClr val="1C0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AUROC</a:t>
                      </a:r>
                    </a:p>
                  </a:txBody>
                  <a:tcPr>
                    <a:solidFill>
                      <a:srgbClr val="1C0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C0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False alarms</a:t>
                      </a:r>
                    </a:p>
                  </a:txBody>
                  <a:tcPr>
                    <a:solidFill>
                      <a:srgbClr val="1C0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C0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p50, ms</a:t>
                      </a:r>
                    </a:p>
                  </a:txBody>
                  <a:tcPr>
                    <a:solidFill>
                      <a:srgbClr val="1C0140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1C0140"/>
                          </a:solidFill>
                        </a:rPr>
                        <a:t>pcb1</a:t>
                      </a:r>
                    </a:p>
                  </a:txBody>
                  <a:tcPr>
                    <a:solidFill>
                      <a:srgbClr val="E6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0.905</a:t>
                      </a:r>
                    </a:p>
                  </a:txBody>
                  <a:tcPr>
                    <a:solidFill>
                      <a:srgbClr val="E6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0.591</a:t>
                      </a:r>
                    </a:p>
                  </a:txBody>
                  <a:tcPr>
                    <a:solidFill>
                      <a:srgbClr val="E6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5%</a:t>
                      </a:r>
                    </a:p>
                  </a:txBody>
                  <a:tcPr>
                    <a:solidFill>
                      <a:srgbClr val="E6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44%</a:t>
                      </a:r>
                    </a:p>
                  </a:txBody>
                  <a:tcPr>
                    <a:solidFill>
                      <a:srgbClr val="E6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250</a:t>
                      </a:r>
                    </a:p>
                  </a:txBody>
                  <a:tcPr>
                    <a:solidFill>
                      <a:srgbClr val="E6F1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1C0140"/>
                          </a:solidFill>
                        </a:rPr>
                        <a:t>pcb2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0.884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0.715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1C0140"/>
                          </a:solidFill>
                        </a:rPr>
                        <a:t>pcb3</a:t>
                      </a:r>
                    </a:p>
                  </a:txBody>
                  <a:tcPr>
                    <a:solidFill>
                      <a:srgbClr val="E6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0.875</a:t>
                      </a:r>
                    </a:p>
                  </a:txBody>
                  <a:tcPr>
                    <a:solidFill>
                      <a:srgbClr val="E6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0.613</a:t>
                      </a:r>
                    </a:p>
                  </a:txBody>
                  <a:tcPr>
                    <a:solidFill>
                      <a:srgbClr val="E6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4%</a:t>
                      </a:r>
                    </a:p>
                  </a:txBody>
                  <a:tcPr>
                    <a:solidFill>
                      <a:srgbClr val="E6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46%</a:t>
                      </a:r>
                    </a:p>
                  </a:txBody>
                  <a:tcPr>
                    <a:solidFill>
                      <a:srgbClr val="E6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250</a:t>
                      </a:r>
                    </a:p>
                  </a:txBody>
                  <a:tcPr>
                    <a:solidFill>
                      <a:srgbClr val="E6F1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1C0140"/>
                          </a:solidFill>
                        </a:rPr>
                        <a:t>pcb4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0.992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0.921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0140"/>
                          </a:solidFill>
                        </a:rPr>
                        <a:t>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0" y="6035040"/>
            <a:ext cx="9052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0140"/>
                </a:solidFill>
                <a:latin typeface="Proxima Nova"/>
              </a:rPr>
              <a:t>Same references and test as v1; numbers from docs/BENCHMARK.md in the repository.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0" id="10"/>
          <p:cNvSpPr txBox="true"/>
          <p:nvPr/>
        </p:nvSpPr>
        <p:spPr>
          <a:xfrm rot="0">
            <a:off x="8738241" y="1097280"/>
            <a:ext cx="5923833" cy="140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8000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Try it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73323" y="3508886"/>
            <a:ext cx="4881562" cy="4766179"/>
          </a:xfrm>
          <a:custGeom>
            <a:avLst/>
            <a:gdLst/>
            <a:ahLst/>
            <a:cxnLst/>
            <a:rect r="r" b="b" t="t" l="l"/>
            <a:pathLst>
              <a:path h="4766179" w="4881562">
                <a:moveTo>
                  <a:pt x="0" y="0"/>
                </a:moveTo>
                <a:lnTo>
                  <a:pt x="4881561" y="0"/>
                </a:lnTo>
                <a:lnTo>
                  <a:pt x="4881561" y="4766180"/>
                </a:lnTo>
                <a:lnTo>
                  <a:pt x="0" y="4766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3371456" y="570787"/>
            <a:ext cx="3375401" cy="4618087"/>
          </a:xfrm>
          <a:custGeom>
            <a:avLst/>
            <a:gdLst/>
            <a:ahLst/>
            <a:cxnLst/>
            <a:rect r="r" b="b" t="t" l="l"/>
            <a:pathLst>
              <a:path h="4618087" w="3375401">
                <a:moveTo>
                  <a:pt x="3375401" y="0"/>
                </a:moveTo>
                <a:lnTo>
                  <a:pt x="0" y="0"/>
                </a:lnTo>
                <a:lnTo>
                  <a:pt x="0" y="4618086"/>
                </a:lnTo>
                <a:lnTo>
                  <a:pt x="3375401" y="4618086"/>
                </a:lnTo>
                <a:lnTo>
                  <a:pt x="337540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675166" y="8509941"/>
            <a:ext cx="4142521" cy="2907297"/>
          </a:xfrm>
          <a:custGeom>
            <a:avLst/>
            <a:gdLst/>
            <a:ahLst/>
            <a:cxnLst/>
            <a:rect r="r" b="b" t="t" l="l"/>
            <a:pathLst>
              <a:path h="2907297" w="4142521">
                <a:moveTo>
                  <a:pt x="0" y="0"/>
                </a:moveTo>
                <a:lnTo>
                  <a:pt x="4142521" y="0"/>
                </a:lnTo>
                <a:lnTo>
                  <a:pt x="4142521" y="2907297"/>
                </a:lnTo>
                <a:lnTo>
                  <a:pt x="0" y="29072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08797" y="7843555"/>
            <a:ext cx="4900719" cy="3154281"/>
          </a:xfrm>
          <a:custGeom>
            <a:avLst/>
            <a:gdLst/>
            <a:ahLst/>
            <a:cxnLst/>
            <a:rect r="r" b="b" t="t" l="l"/>
            <a:pathLst>
              <a:path h="3154281" w="4900719">
                <a:moveTo>
                  <a:pt x="0" y="0"/>
                </a:moveTo>
                <a:lnTo>
                  <a:pt x="4900719" y="0"/>
                </a:lnTo>
                <a:lnTo>
                  <a:pt x="4900719" y="3154281"/>
                </a:lnTo>
                <a:lnTo>
                  <a:pt x="0" y="3154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-173323" y="263696"/>
            <a:ext cx="2640678" cy="3752902"/>
          </a:xfrm>
          <a:custGeom>
            <a:avLst/>
            <a:gdLst/>
            <a:ahLst/>
            <a:cxnLst/>
            <a:rect r="r" b="b" t="t" l="l"/>
            <a:pathLst>
              <a:path h="3752902" w="2640678">
                <a:moveTo>
                  <a:pt x="2640678" y="0"/>
                </a:moveTo>
                <a:lnTo>
                  <a:pt x="0" y="0"/>
                </a:lnTo>
                <a:lnTo>
                  <a:pt x="0" y="3752902"/>
                </a:lnTo>
                <a:lnTo>
                  <a:pt x="2640678" y="3752902"/>
                </a:lnTo>
                <a:lnTo>
                  <a:pt x="264067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5444779" y="5599694"/>
            <a:ext cx="1302078" cy="2819460"/>
          </a:xfrm>
          <a:custGeom>
            <a:avLst/>
            <a:gdLst/>
            <a:ahLst/>
            <a:cxnLst/>
            <a:rect r="r" b="b" t="t" l="l"/>
            <a:pathLst>
              <a:path h="2819460" w="1302078">
                <a:moveTo>
                  <a:pt x="1302078" y="0"/>
                </a:moveTo>
                <a:lnTo>
                  <a:pt x="0" y="0"/>
                </a:lnTo>
                <a:lnTo>
                  <a:pt x="0" y="2819460"/>
                </a:lnTo>
                <a:lnTo>
                  <a:pt x="1302078" y="2819460"/>
                </a:lnTo>
                <a:lnTo>
                  <a:pt x="130207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id="17" name="Picture 16" descr="qr-s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29600" y="2926080"/>
            <a:ext cx="2743200" cy="274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46720" y="5806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C0140"/>
                </a:solidFill>
                <a:latin typeface="Proxima Nova"/>
              </a:rPr>
              <a:t>Live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6400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0140"/>
                </a:solidFill>
                <a:latin typeface="Proxima Nova"/>
              </a:rPr>
              <a:t>web-production-d9743.up.railway.app</a:t>
            </a:r>
          </a:p>
        </p:txBody>
      </p:sp>
      <p:pic>
        <p:nvPicPr>
          <p:cNvPr id="20" name="Picture 19" descr="qr-github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21440" y="2926080"/>
            <a:ext cx="27432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338560" y="5806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C0140"/>
                </a:solidFill>
                <a:latin typeface="Proxima Nova"/>
              </a:rPr>
              <a:t>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00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0140"/>
                </a:solidFill>
                <a:latin typeface="Proxima Nova"/>
              </a:rPr>
              <a:t>github.com/DesertEaglesTech/worksight</a:t>
            </a:r>
          </a:p>
        </p:txBody>
      </p:sp>
      <p:pic>
        <p:nvPicPr>
          <p:cNvPr id="23" name="Picture 22" descr="qr-telegram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813280" y="2926080"/>
            <a:ext cx="2743200" cy="2743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630400" y="5806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C0140"/>
                </a:solidFill>
                <a:latin typeface="Proxima Nova"/>
              </a:rPr>
              <a:t>Telegram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0" y="6400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0140"/>
                </a:solidFill>
                <a:latin typeface="Proxima Nova"/>
              </a:rPr>
              <a:t>t.me/kingcrimson314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6315" y="7717946"/>
            <a:ext cx="7717685" cy="140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212772" y="8251110"/>
            <a:ext cx="7607678" cy="4813586"/>
          </a:xfrm>
          <a:custGeom>
            <a:avLst/>
            <a:gdLst/>
            <a:ahLst/>
            <a:cxnLst/>
            <a:rect r="r" b="b" t="t" l="l"/>
            <a:pathLst>
              <a:path h="4813586" w="7607678">
                <a:moveTo>
                  <a:pt x="0" y="0"/>
                </a:moveTo>
                <a:lnTo>
                  <a:pt x="7607679" y="0"/>
                </a:lnTo>
                <a:lnTo>
                  <a:pt x="7607679" y="4813586"/>
                </a:lnTo>
                <a:lnTo>
                  <a:pt x="0" y="4813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81933" y="4146056"/>
            <a:ext cx="3292727" cy="5310849"/>
          </a:xfrm>
          <a:custGeom>
            <a:avLst/>
            <a:gdLst/>
            <a:ahLst/>
            <a:cxnLst/>
            <a:rect r="r" b="b" t="t" l="l"/>
            <a:pathLst>
              <a:path h="5310849" w="3292727">
                <a:moveTo>
                  <a:pt x="0" y="0"/>
                </a:moveTo>
                <a:lnTo>
                  <a:pt x="3292727" y="0"/>
                </a:lnTo>
                <a:lnTo>
                  <a:pt x="3292727" y="5310849"/>
                </a:lnTo>
                <a:lnTo>
                  <a:pt x="0" y="53108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79773" y="6145918"/>
            <a:ext cx="3168214" cy="4813586"/>
          </a:xfrm>
          <a:custGeom>
            <a:avLst/>
            <a:gdLst/>
            <a:ahLst/>
            <a:cxnLst/>
            <a:rect r="r" b="b" t="t" l="l"/>
            <a:pathLst>
              <a:path h="4813586" w="3168214">
                <a:moveTo>
                  <a:pt x="0" y="0"/>
                </a:moveTo>
                <a:lnTo>
                  <a:pt x="3168214" y="0"/>
                </a:lnTo>
                <a:lnTo>
                  <a:pt x="3168214" y="4813585"/>
                </a:lnTo>
                <a:lnTo>
                  <a:pt x="0" y="4813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98661" y="1432573"/>
            <a:ext cx="2984423" cy="4813586"/>
          </a:xfrm>
          <a:custGeom>
            <a:avLst/>
            <a:gdLst/>
            <a:ahLst/>
            <a:cxnLst/>
            <a:rect r="r" b="b" t="t" l="l"/>
            <a:pathLst>
              <a:path h="4813586" w="2984423">
                <a:moveTo>
                  <a:pt x="0" y="0"/>
                </a:moveTo>
                <a:lnTo>
                  <a:pt x="2984423" y="0"/>
                </a:lnTo>
                <a:lnTo>
                  <a:pt x="2984423" y="4813585"/>
                </a:lnTo>
                <a:lnTo>
                  <a:pt x="0" y="48135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81933" y="541097"/>
            <a:ext cx="1523200" cy="3298268"/>
          </a:xfrm>
          <a:custGeom>
            <a:avLst/>
            <a:gdLst/>
            <a:ahLst/>
            <a:cxnLst/>
            <a:rect r="r" b="b" t="t" l="l"/>
            <a:pathLst>
              <a:path h="3298268" w="1523200">
                <a:moveTo>
                  <a:pt x="0" y="0"/>
                </a:moveTo>
                <a:lnTo>
                  <a:pt x="1523200" y="0"/>
                </a:lnTo>
                <a:lnTo>
                  <a:pt x="1523200" y="3298268"/>
                </a:lnTo>
                <a:lnTo>
                  <a:pt x="0" y="32982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99662" y="4356453"/>
            <a:ext cx="1477446" cy="3199194"/>
          </a:xfrm>
          <a:custGeom>
            <a:avLst/>
            <a:gdLst/>
            <a:ahLst/>
            <a:cxnLst/>
            <a:rect r="r" b="b" t="t" l="l"/>
            <a:pathLst>
              <a:path h="3199194" w="1477446">
                <a:moveTo>
                  <a:pt x="0" y="0"/>
                </a:moveTo>
                <a:lnTo>
                  <a:pt x="1477446" y="0"/>
                </a:lnTo>
                <a:lnTo>
                  <a:pt x="1477446" y="3199195"/>
                </a:lnTo>
                <a:lnTo>
                  <a:pt x="0" y="31991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74660" y="-787980"/>
            <a:ext cx="2884906" cy="3238159"/>
          </a:xfrm>
          <a:custGeom>
            <a:avLst/>
            <a:gdLst/>
            <a:ahLst/>
            <a:cxnLst/>
            <a:rect r="r" b="b" t="t" l="l"/>
            <a:pathLst>
              <a:path h="3238159" w="2884906">
                <a:moveTo>
                  <a:pt x="0" y="0"/>
                </a:moveTo>
                <a:lnTo>
                  <a:pt x="2884905" y="0"/>
                </a:lnTo>
                <a:lnTo>
                  <a:pt x="2884905" y="3238159"/>
                </a:lnTo>
                <a:lnTo>
                  <a:pt x="0" y="32381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26315" y="1623892"/>
            <a:ext cx="7315200" cy="163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4"/>
              </a:lnSpc>
            </a:pPr>
            <a:r>
              <a:rPr lang="en-US" sz="5600" spc="-437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Worksight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6315" y="3584570"/>
            <a:ext cx="2555748" cy="25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b="true" sz="1800" spc="6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DESERT EAGLES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DAHYWEyM65E</dc:identifier>
  <dcterms:modified xsi:type="dcterms:W3CDTF">2011-08-01T06:04:30Z</dcterms:modified>
  <cp:revision>1</cp:revision>
  <dc:title>Non Text Magic Studio Magic Design for Presentations L&amp;P</dc:title>
</cp:coreProperties>
</file>